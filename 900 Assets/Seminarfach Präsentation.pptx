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_rels/slide22.xml.rels" ContentType="application/vnd.openxmlformats-package.relationships+xml"/>
  <Override PartName="/ppt/slides/_rels/slide3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4.xml.rels" ContentType="application/vnd.openxmlformats-package.relationships+xml"/>
  <Override PartName="/ppt/slides/_rels/slide39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8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0077450" cy="5668963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Folie mittels Klicken verschieben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JetBrainsMono NF Medium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7688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6"/>
          </p:nvPr>
        </p:nvSpPr>
        <p:spPr>
          <a:xfrm>
            <a:off x="439884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8"/>
          </p:nvPr>
        </p:nvSpPr>
        <p:spPr>
          <a:xfrm>
            <a:off x="439884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CC4F50-1FA7-4CF7-8B1D-292C9BD9070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7688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Wenig Bilder, viel text, ich gebe mir mühe, dass interessant zu gestalten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77688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Savant-Syndrom ist nicht Synonym mit Inselbegabung und geht zwingend mit geistiger Behinderung einher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Inselbegabung kann auch o. geisitge Behinderungen auftreten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Arbeitstitel Überholt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77688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Gerade gehört: Autismus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Derek ist auf dem autistischen Spektrum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verstärkt eine Inselbegabung ist aber keine Voraussetzung dafür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Mehrere Inseln können bei einer Person auftreten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Begriff geprägt von John Langdon-Down 1887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Inselbegabung auch nicht passend: beschreibt den neurotypischen savant.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ICD: International Classification of Deseases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DMS: Diagnostic and Statistical Manual of Mental Disorders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TMS: Transkranielle Magnetstimulation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WICHTIG: nur “erstaunliche” / “prodigious” savants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Problematik ist die praktische und empirische irrelevanz von Savants im Schulischen Kontext.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Thema ist nicht Praxistauglich.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Die Menge ist so verschwindend gering, dass eine Analyse über den Einfluss des Schulsystems garnicht erst möglich ist.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Neurotypische Personen (ohne eine kognitive Entwicklungsstörung) mit Inselbegabungen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erst überlegt darauf hinzuarbeiten, wegen deutlich häufigerem auftreten aber dennoch nur gerade so beobachtbar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Savant: Extremfall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Inselbegabung (Nicht-Pathologisch): Brückenphänomen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Hochbegabung: pädagogische Relaität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Ab jetzt im Fokus der Facharbeit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Sonderschulen für Schüler mit besonderen Lernbedürfnissen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Unterschiedliche Behinderungen und Lernschwierigkeiten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Stehen unter Kritik, “Könnt ihr euch denken wieso?”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-Exklusion statt inklusion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-Systematische Trennung und Ausgrenzung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-Förderschule endet in den allermeisten fällen ohne Schulabschluss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auftakt für lebenslange exklusionskette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→ Menschen mit behinderungen besonders stark von Armut betroffen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Phase: GBI bekommt Unterricht von Phase Eins Schulen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Alternative Lösungen: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Spezielle Schulen, außerschulische Programme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Viele Schulen / Kitas verfolgen das Prinzip von “Gleicher Erziehung für alle” zu stark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Kinder mit anderen Bedürfnissen werden vernachlässigt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Eltern beginnen zu zweifeln ob Bemühungen falsch seien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Zitat aus “Unser Kind ist Hochbegabt: Ein Leitfaden für Eltern und Lehrer”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Sacken lassen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Fragestellung: Wieso fallen Hochbegabungen nicht sofort auf.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Bei konstant hervorragenden Leistungen, müsste man das ja erkennen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Die meisten fallen auf, durch ihr Verhalten im Unterricht, durch Frustration, die aus der Unterforderung resultiert.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Laut der Grundschullehrerin aus Hamburg, gibt es dort in Schulen eine Fachkraft, die Lehrer*innen beratend zur Seite stehe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77724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Marie Fuest hat ein paar Verbesserungsvorschläge genannt, habt ihr auch welche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533160" y="76392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776880" y="477720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Anpassung des schulsystems an die individuellen stärken und schwächen der schüler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fokus muss ausgeweitet werden auch auf hochbegabte und nicht nur schüler mit schwierigkeiten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zwar nur hochbegabung betrachtet aber man kann davon ausgehen dass es beim savant-syndrom noch schlechter klappt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zxx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Inklusion muss endlich funktionieren, wie wir gesehen haben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  <a:tabLst>
                <a:tab algn="ctr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JetBrainsMono NF Medium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A99E18-6615-4A72-8919-5843733B271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  <a:tabLst>
                <a:tab algn="ctr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Format des Titeltextes durch Klicken bearbeiten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JetBrainsMono NF Medium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2062080" y="388548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Sf4 – Frau Hage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4840" y="516456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FF3C41-F80E-4D7A-AC6A-D7AA5ADEC97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3838320" cy="23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Format des Titeltextes durch Klicken bearbeiten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JetBrainsMono NF Medium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3"/>
          </p:nvPr>
        </p:nvSpPr>
        <p:spPr>
          <a:xfrm>
            <a:off x="503640" y="516456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4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5"/>
          </p:nvPr>
        </p:nvSpPr>
        <p:spPr>
          <a:xfrm>
            <a:off x="7224840" y="516456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6B91873-BA88-493F-A180-0C47146EF43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youtu.be/wcPzTr-BbAA?t=831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gradFill rotWithShape="0">
          <a:gsLst>
            <a:gs pos="0">
              <a:srgbClr val="ff860d"/>
            </a:gs>
            <a:gs pos="100000">
              <a:srgbClr val="c9211e"/>
            </a:gs>
          </a:gsLst>
          <a:lin ang="36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240" y="3523320"/>
            <a:ext cx="9369720" cy="19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  <a:tabLst>
                <a:tab algn="ctr" pos="0"/>
              </a:tabLst>
            </a:pPr>
            <a:r>
              <a:rPr b="1" lang="zxx" sz="3800" strike="noStrike" u="none">
                <a:solidFill>
                  <a:srgbClr val="ffffff"/>
                </a:solidFill>
                <a:effectLst/>
                <a:uFillTx/>
                <a:latin typeface="JetBrains Mono ExtraBold"/>
              </a:rPr>
              <a:t>Berücksichtigt das Schulsystem</a:t>
            </a:r>
            <a:br>
              <a:rPr sz="3800"/>
            </a:br>
            <a:r>
              <a:rPr b="1" lang="zxx" sz="3800" strike="noStrike" u="none">
                <a:solidFill>
                  <a:srgbClr val="ffffff"/>
                </a:solidFill>
                <a:effectLst/>
                <a:uFillTx/>
                <a:latin typeface="JetBrains Mono ExtraBold"/>
              </a:rPr>
              <a:t>den Einfluss </a:t>
            </a:r>
            <a:r>
              <a:rPr b="0" lang="zxx" sz="3800" strike="noStrike" u="none">
                <a:solidFill>
                  <a:srgbClr val="ffffff"/>
                </a:solidFill>
                <a:effectLst/>
                <a:uFillTx/>
                <a:latin typeface="JetBrains Mono ExtraBold"/>
              </a:rPr>
              <a:t>des</a:t>
            </a:r>
            <a:r>
              <a:rPr b="1" lang="zxx" sz="3800" strike="noStrike" u="none">
                <a:solidFill>
                  <a:srgbClr val="ffffff"/>
                </a:solidFill>
                <a:effectLst/>
                <a:uFillTx/>
                <a:latin typeface="JetBrains Mono ExtraBold"/>
              </a:rPr>
              <a:t> Savant-</a:t>
            </a:r>
            <a:r>
              <a:rPr b="1" lang="zxx" sz="3800" strike="noStrike" u="none">
                <a:solidFill>
                  <a:srgbClr val="ffffff"/>
                </a:solidFill>
                <a:effectLst/>
                <a:uFillTx/>
                <a:latin typeface="JetBrains Mono ExtraBold"/>
              </a:rPr>
              <a:t>Syndroms</a:t>
            </a:r>
            <a:br>
              <a:rPr sz="3800"/>
            </a:br>
            <a:r>
              <a:rPr b="1" lang="zxx" sz="3800" strike="noStrike" u="none">
                <a:solidFill>
                  <a:srgbClr val="ffffff"/>
                </a:solidFill>
                <a:effectLst/>
                <a:uFillTx/>
                <a:latin typeface="JetBrains Mono ExtraBold"/>
              </a:rPr>
              <a:t>auf den Lernerfolg?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JetBrainsMono NF Medium"/>
            </a:endParaRPr>
          </a:p>
        </p:txBody>
      </p:sp>
      <p:grpSp>
        <p:nvGrpSpPr>
          <p:cNvPr id="19" name=""/>
          <p:cNvGrpSpPr/>
          <p:nvPr/>
        </p:nvGrpSpPr>
        <p:grpSpPr>
          <a:xfrm>
            <a:off x="228240" y="228240"/>
            <a:ext cx="9597960" cy="228600"/>
            <a:chOff x="228240" y="228240"/>
            <a:chExt cx="9597960" cy="228600"/>
          </a:xfrm>
        </p:grpSpPr>
        <p:sp>
          <p:nvSpPr>
            <p:cNvPr id="20" name=""/>
            <p:cNvSpPr txBox="1"/>
            <p:nvPr/>
          </p:nvSpPr>
          <p:spPr>
            <a:xfrm>
              <a:off x="228240" y="22824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ffffff"/>
                  </a:solidFill>
                  <a:effectLst/>
                  <a:uFillTx/>
                  <a:latin typeface="JetBrainsMono"/>
                </a:rPr>
                <a:t>Kolja Kahl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1" name=""/>
            <p:cNvSpPr txBox="1"/>
            <p:nvPr/>
          </p:nvSpPr>
          <p:spPr>
            <a:xfrm>
              <a:off x="7998120" y="22824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ffffff"/>
                  </a:solidFill>
                  <a:effectLst/>
                  <a:uFillTx/>
                  <a:latin typeface="JetBrains Mono"/>
                </a:rPr>
                <a:t>Seminarfach</a:t>
              </a:r>
              <a:r>
                <a:rPr b="0" lang="zxx" sz="1200" strike="noStrike" u="none">
                  <a:solidFill>
                    <a:srgbClr val="ffffff"/>
                  </a:solidFill>
                  <a:effectLst/>
                  <a:uFillTx/>
                  <a:latin typeface="JetBrainsMono NF Medium"/>
                </a:rPr>
                <a:t> Sf4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JetBrainsMono NF Medium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3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 Mono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4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 Mono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5" name=""/>
          <p:cNvSpPr txBox="1"/>
          <p:nvPr/>
        </p:nvSpPr>
        <p:spPr>
          <a:xfrm>
            <a:off x="228240" y="5028480"/>
            <a:ext cx="182592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 Mono ExtraBold"/>
              </a:rPr>
              <a:t>Klarstellung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592280" y="2292840"/>
            <a:ext cx="6891840" cy="79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 Mono"/>
              </a:rPr>
              <a:t>Savant-Syndrom != Inselbegabung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9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0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1" name=""/>
          <p:cNvSpPr txBox="1"/>
          <p:nvPr/>
        </p:nvSpPr>
        <p:spPr>
          <a:xfrm>
            <a:off x="228240" y="5029200"/>
            <a:ext cx="182592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Gliederung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4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5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6" name=""/>
          <p:cNvSpPr txBox="1"/>
          <p:nvPr/>
        </p:nvSpPr>
        <p:spPr>
          <a:xfrm>
            <a:off x="228600" y="80280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2100" strike="noStrike" u="none">
                <a:solidFill>
                  <a:srgbClr val="000000"/>
                </a:solidFill>
                <a:effectLst/>
                <a:uFillTx/>
                <a:latin typeface="JetBrains Mono"/>
              </a:rPr>
              <a:t>1. Einleitung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2100" strike="noStrike" u="none">
                <a:solidFill>
                  <a:srgbClr val="000000"/>
                </a:solidFill>
                <a:effectLst/>
                <a:uFillTx/>
                <a:latin typeface="JetBrains Mono"/>
              </a:rPr>
              <a:t>2. Das Savant-Syndrom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2100" strike="noStrike" u="none">
                <a:solidFill>
                  <a:srgbClr val="000000"/>
                </a:solidFill>
                <a:effectLst/>
                <a:uFillTx/>
                <a:latin typeface="JetBrains Mono"/>
              </a:rPr>
              <a:t>3. Problematik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21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Noto Sans CJK SC"/>
              </a:rPr>
              <a:t>4. </a:t>
            </a:r>
            <a:r>
              <a:rPr b="0" lang="zxx" sz="2100" strike="noStrike" u="none">
                <a:solidFill>
                  <a:srgbClr val="000000"/>
                </a:solidFill>
                <a:effectLst/>
                <a:uFillTx/>
                <a:latin typeface="JetBrains Mono"/>
              </a:rPr>
              <a:t>Das Regelschulsystem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2100" strike="noStrike" u="none">
                <a:solidFill>
                  <a:srgbClr val="000000"/>
                </a:solidFill>
                <a:effectLst/>
                <a:uFillTx/>
                <a:latin typeface="JetBrains Mono"/>
              </a:rPr>
              <a:t>5. Beantwortung der Forschungsfrage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2100" strike="noStrike" u="none">
                <a:solidFill>
                  <a:srgbClr val="000000"/>
                </a:solidFill>
                <a:effectLst/>
                <a:uFillTx/>
                <a:latin typeface="JetBrains Mono"/>
              </a:rPr>
              <a:t>6. Fazit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8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9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40" name=""/>
          <p:cNvSpPr txBox="1"/>
          <p:nvPr/>
        </p:nvSpPr>
        <p:spPr>
          <a:xfrm>
            <a:off x="228240" y="5029200"/>
            <a:ext cx="182592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Einleitung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43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44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45" name=""/>
          <p:cNvSpPr txBox="1"/>
          <p:nvPr/>
        </p:nvSpPr>
        <p:spPr>
          <a:xfrm>
            <a:off x="228600" y="803160"/>
            <a:ext cx="685152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de-DE" sz="21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Derek Paravicini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Frühgeburt (26 Wochen)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Blind geboren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nicht für Überlebensfähig gehalten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de-DE" sz="1400" strike="noStrike" u="none">
                <a:solidFill>
                  <a:srgbClr val="3465a4"/>
                </a:solidFill>
                <a:effectLst/>
                <a:uFillTx/>
                <a:latin typeface="JetBrainsMono NF Medium"/>
                <a:hlinkClick r:id="rId1"/>
              </a:rPr>
              <a:t>Mind Field S2E7 - Divergent Minds (13:51)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21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Derek ist ein musikalischer Savant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große Schwierigkeiten in alltäglichem z.b. Zähneputzen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kann jedes Lied, nach kurzem Hören am Klavier reproduzieren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7130520" y="750240"/>
            <a:ext cx="2699280" cy="359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48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49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50" name=""/>
          <p:cNvSpPr txBox="1"/>
          <p:nvPr/>
        </p:nvSpPr>
        <p:spPr>
          <a:xfrm>
            <a:off x="228240" y="5029200"/>
            <a:ext cx="2972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Savant-Syndrom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53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54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55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 Mono ExtraBold"/>
              </a:rPr>
              <a:t>Autismus?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57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58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59" name=""/>
          <p:cNvSpPr txBox="1"/>
          <p:nvPr/>
        </p:nvSpPr>
        <p:spPr>
          <a:xfrm>
            <a:off x="228240" y="5029200"/>
            <a:ext cx="32007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Savant-Syndrom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62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63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64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21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Charakteristika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besonders herausragende Begabung in einem bestimmten Bereich (Insel)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tritt überwiegend bei Menschen auf, mit: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geistiger Behinderung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tiefgreifender Entwicklungsstörung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Hirnschädigung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Fähigkeiten nicht mit einfachem “üben” erklärbar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meistens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mathematische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künstlerische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musikalische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Gedächtnisleistungen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66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67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68" name=""/>
          <p:cNvSpPr txBox="1"/>
          <p:nvPr/>
        </p:nvSpPr>
        <p:spPr>
          <a:xfrm>
            <a:off x="228240" y="5029200"/>
            <a:ext cx="2972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Savant-Syndrom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71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72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73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Savants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Bezeichnung hat veralteten/diskriminierenden Ursprung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Ursprünglich “idiot savant” -&gt; “gelehrter Idiot”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mehrere Unterschiedliche bezeichnungen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“prodigious savant”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“autistic savant”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“erstaunlicher savant”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“talentierter savant”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auch der Begriff “savant” irreführend -&gt; “wissender” / “gelehrter”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“Inselbegabung”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75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76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77" name=""/>
          <p:cNvSpPr txBox="1"/>
          <p:nvPr/>
        </p:nvSpPr>
        <p:spPr>
          <a:xfrm>
            <a:off x="228240" y="5029200"/>
            <a:ext cx="2972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Savant-Syndrom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80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81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82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Neurologische Hintergründe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Begriff nicht klassifiziert -&gt; weder im ICD noch im DMS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unterschiedliche Autoren definieren den Begriff unterschiedlich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Nicht klar warum Inselbegabungen auftreten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Jeder Mensch habe die Fähigkeiten eines Savants, aber keinen Zugriff darauf.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Inselbegabten soll eine Filterfunktion des Gehirns fehlen, die unwichtige Informationen ausblendet.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Gestützt durch den Umstand, dass Inselbegabungen auch durch Kopfverletzungen auftreten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84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85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86" name=""/>
          <p:cNvSpPr txBox="1"/>
          <p:nvPr/>
        </p:nvSpPr>
        <p:spPr>
          <a:xfrm>
            <a:off x="228240" y="5029200"/>
            <a:ext cx="32007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Savant-Syndrom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89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90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91" name=""/>
          <p:cNvSpPr txBox="1"/>
          <p:nvPr/>
        </p:nvSpPr>
        <p:spPr>
          <a:xfrm>
            <a:off x="228600" y="803160"/>
            <a:ext cx="810576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21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Experimente zur Synthese von Inselbegabungen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Allan Snyder versucht die “Filterfunktion” zu deaktivieren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TMS deaktiviert gezielt areale im Gehirn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Probanden sollten Hunde aus dem Gedächtnis zeichen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Nach einiger Zeit der Wirkung des TMS: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Probanden zeigten sichtbare Verbesserung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5281560" y="1887120"/>
            <a:ext cx="4677120" cy="276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94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95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96" name=""/>
          <p:cNvSpPr txBox="1"/>
          <p:nvPr/>
        </p:nvSpPr>
        <p:spPr>
          <a:xfrm>
            <a:off x="228240" y="5029200"/>
            <a:ext cx="264528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Problematik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8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99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00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01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Wie viele Savants gibt es?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de-DE" sz="2600" strike="noStrike" u="none">
                <a:solidFill>
                  <a:srgbClr val="ed4c05"/>
                </a:solidFill>
                <a:effectLst/>
                <a:uFillTx/>
                <a:latin typeface="JetBrainsMono NF ExtraBold"/>
              </a:rPr>
              <a:t>ca. 100 bekannte Fälle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03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04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05" name=""/>
          <p:cNvSpPr txBox="1"/>
          <p:nvPr/>
        </p:nvSpPr>
        <p:spPr>
          <a:xfrm>
            <a:off x="228240" y="5029200"/>
            <a:ext cx="264528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Problematik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08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09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10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Keine Relevanz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Im schulischen Kontext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12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13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14" name=""/>
          <p:cNvSpPr txBox="1"/>
          <p:nvPr/>
        </p:nvSpPr>
        <p:spPr>
          <a:xfrm>
            <a:off x="228240" y="5029200"/>
            <a:ext cx="264528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Problematik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6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17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18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19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Nicht-Pathologische Savants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21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22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23" name=""/>
          <p:cNvSpPr txBox="1"/>
          <p:nvPr/>
        </p:nvSpPr>
        <p:spPr>
          <a:xfrm>
            <a:off x="228240" y="5029200"/>
            <a:ext cx="264528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Problematik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26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27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28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Hochbegabung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30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31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32" name=""/>
          <p:cNvSpPr txBox="1"/>
          <p:nvPr/>
        </p:nvSpPr>
        <p:spPr>
          <a:xfrm>
            <a:off x="228240" y="5029200"/>
            <a:ext cx="303624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Regelschulsystem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4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35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36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37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allgemeinbildende Schule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in öffentlicher Trägerschaft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Ausnahme: Förderschule / Sonderschule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Schulpflicht != Bildungspflicht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beginnt mit 6 Jahren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geht mindestens 9 Jahre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von den Kultusministerien der Länder organisiert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Unterschiedliche Lehrpläne und Ferien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39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40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41" name=""/>
          <p:cNvSpPr txBox="1"/>
          <p:nvPr/>
        </p:nvSpPr>
        <p:spPr>
          <a:xfrm>
            <a:off x="228240" y="5029200"/>
            <a:ext cx="303624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Regelschulsystem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3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44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45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46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Inklusion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48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49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50" name=""/>
          <p:cNvSpPr txBox="1"/>
          <p:nvPr/>
        </p:nvSpPr>
        <p:spPr>
          <a:xfrm>
            <a:off x="228240" y="5029200"/>
            <a:ext cx="303624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Regelschulsystem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2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53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54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55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Exklusion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57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58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59" name=""/>
          <p:cNvSpPr txBox="1"/>
          <p:nvPr/>
        </p:nvSpPr>
        <p:spPr>
          <a:xfrm>
            <a:off x="228240" y="5029200"/>
            <a:ext cx="303624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Regelschulsystem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1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62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63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64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Leistung macht Schule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Initiative von Bund und Ländern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Seit 2018 insgesamt 125 Mrd. Euro für einen 10-Jahres-Zeitraum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individuelle und unabhängige Förderung leistungsstarker Schüler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Entwicklung innovativer Unterrichts- und Schulkonzepte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Unterstützung von Lehrern bei der frühzeitigen Indetifikation leistungsstarker Schüler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Beteiligung von über 800 Grund- und weiterführenden Schulen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66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67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68" name=""/>
          <p:cNvSpPr txBox="1"/>
          <p:nvPr/>
        </p:nvSpPr>
        <p:spPr>
          <a:xfrm>
            <a:off x="228240" y="5029200"/>
            <a:ext cx="303624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Das Regelschulsystem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0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71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72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73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Gymnasium Bad Iburg</a:t>
            </a:r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 seit </a:t>
            </a:r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2023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Zweite Phase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75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76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77" name=""/>
          <p:cNvSpPr txBox="1"/>
          <p:nvPr/>
        </p:nvSpPr>
        <p:spPr>
          <a:xfrm>
            <a:off x="228240" y="5029200"/>
            <a:ext cx="38865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Einschub: Hochbegabung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9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80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81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82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Von den Medien oft in ein falsches Licht gerückt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Über sportlich hochbegabte Kinder wird mit Stolz und Bewunderung berichtet. Intellektuell hochbegabte Kinder, werden zwar als schlau und leistungsstark dargestellt, aber oft auch als Außenseiter mit sozialen oder emotionalen Problemen.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wird weiter verstärkt, durch wiederholte einzelne, meist emotionale Fallbeispiele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84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85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86" name=""/>
          <p:cNvSpPr txBox="1"/>
          <p:nvPr/>
        </p:nvSpPr>
        <p:spPr>
          <a:xfrm>
            <a:off x="228240" y="5029200"/>
            <a:ext cx="38865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Einschub: Hochbegabung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89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90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91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Herausforderungen für Schüler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Häufiges Gefühl von Isolation und Unverständnis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Schwierigkeiten bei sozialer Integration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-&gt; u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nterschiedliche Interessen und Denken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Erhöhtes Risiko für soziale Ängste und Depressionen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Unterforderung im Unterricht macht Langeweile, Motivationsverlust, Verhaltensproblemen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Falsche Deutung von Langeweile als Desinteresse oder Lernschwäche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Anfällig für Perfektionismus und Selbstauferlegten Leistungsdruck, Angst, Burnout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besondere emotionale Unterstützung nötig, nicht nur akademische Förderung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93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94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195" name=""/>
          <p:cNvSpPr txBox="1"/>
          <p:nvPr/>
        </p:nvSpPr>
        <p:spPr>
          <a:xfrm>
            <a:off x="228240" y="5029200"/>
            <a:ext cx="38865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Einschub: Hochbegabung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7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198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199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00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Herausforderungen für Eltern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In der Verantwortungem, besondere Bedürfnisse zu erkennen und zu unterstützen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kann zu einem hohen Maß an Stress und Unsicherheit führen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besonders bei Widerstand von Lehrern oder anderen Eltern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Suche nach geeigneten Bildungsangeboten oft kompliziert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mangel an Ressourcen und Programmen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zwingt Eltern zu alternativen Lösungen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Lösungen oft Zeit- und Geldaufwändig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Emotionale und Soziale der Kinder überblicken um Einsamkeit zu vermeiden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02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03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04" name=""/>
          <p:cNvSpPr txBox="1"/>
          <p:nvPr/>
        </p:nvSpPr>
        <p:spPr>
          <a:xfrm>
            <a:off x="228240" y="5029200"/>
            <a:ext cx="38865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Einschub: Hochbegabung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6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07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08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09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Ungerechtigkeit durch Gleichheit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11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12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13" name=""/>
          <p:cNvSpPr txBox="1"/>
          <p:nvPr/>
        </p:nvSpPr>
        <p:spPr>
          <a:xfrm>
            <a:off x="228240" y="5029200"/>
            <a:ext cx="32007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Franz J. Mönks (1993)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5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16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17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18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“Nichts ist ungerechter,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als Ungleiche wie Gleiche zu behandeln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und zu erziehen”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20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21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22" name=""/>
          <p:cNvSpPr txBox="1"/>
          <p:nvPr/>
        </p:nvSpPr>
        <p:spPr>
          <a:xfrm>
            <a:off x="228240" y="5029200"/>
            <a:ext cx="38865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Einschub: Hochbegabung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4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25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26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27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Herausforderungen für Lehrer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traditioneller Lehrplan und Standardmethoden auf den Durschnitt der Schüler ausgelegt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Hochbegabte Kinder werden meist nicht genug gefördert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Lehrer müssen in der Lage sein: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Hochbegabung zu erkennen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differenzierte Lernmöglichkeiten zu schaffen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intellektuellen Bedürfnissen gerecht zu werden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Schulen finden nur wenig qualifiziertes Personal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größere Klassen, hohes Arbeitsaufkommen für Lehrkräfte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wenig Raum für individuelle Förderung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kontinuierliche Fortbildungen, um die Zeichen von Hochbegabung zu erkennen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29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30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31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3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34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35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36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Berücksichtigt das Regelschulsystem die Hochbegabung?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38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39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40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Raúl Krauthausen (2024)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2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43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44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45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“Lehrkräfte an </a:t>
            </a:r>
            <a:r>
              <a:rPr b="1" lang="zxx" sz="1100" strike="noStrike" u="none">
                <a:solidFill>
                  <a:srgbClr val="999999"/>
                </a:solidFill>
                <a:effectLst/>
                <a:uFillTx/>
                <a:latin typeface="JetBrainsMono NF Medium"/>
              </a:rPr>
              <a:t>[...]</a:t>
            </a:r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 Regelschulen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weigern sich häufig, Kinder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mit Behinderung zu beschulen”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47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48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49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1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52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53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54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Das Regelschulsystem ist darauf ausgelegt, einen gemeinsamen Bildungsstandard für alle Schüler zu gewährleisten.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Folglich wird besonderer Wert auf Schüler mit Lernschwierigkeiten gelegt.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Hochbegabte oder in speziellen Bereichen herausragende Kinder werden oft nicht ausreichend berücksichtigt.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56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57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58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61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62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63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Lehrkräfte verfügen oft nicht über ausreichende Ausbildung um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Hochbegabung / spezialisierte Begabungen zu erkennen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individuelle Förderung anzubieten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hochbegabte kämen mit einem enormen Vorwissen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empfinden Aufgaben als zu einfach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	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-&gt; führt zu Unterforderung / Langeweile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es fehlt an spezifischen Fördermaterialien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mangels Zeit, wird auf Vorhandene Aufgaben gesetzt </a:t>
            </a: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statt individuelle zu entwickeln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Lehrer werden in der Förderung alleine gelassen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Schüler werden oft missverstanden, erleben Neid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- Lehrer sind sich dieser Probleme oft nicht bewusst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65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66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67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9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70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71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72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Wieso?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74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75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76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8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79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80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81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Die wenigsten fallen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durch gute Leistungen auf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83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84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85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7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88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89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90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</a:rPr>
              <a:t>Fortschritt in Hamburg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92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93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94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6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297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298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299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Kaum Schulungen zur Erkennung &amp; Förderung Hochbegabter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Konzentration meist auf leistungsschwächere Schüler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Elternhaus spielt große Rolle, Schule oft ohne ausreichende Unterstützung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Individuelle Förderpläne selten umsetzbar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Zu große Klassen, zu wenig Lehrkräfte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01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02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03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5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06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07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08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  <a:spcBef>
                <a:spcPts val="57"/>
              </a:spcBef>
            </a:pPr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Was könnte man ändern?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10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11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12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4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15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16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17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  <a:spcBef>
                <a:spcPts val="57"/>
              </a:spcBef>
            </a:pPr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Verpflichtende Fortbildungen für Lehrkräfte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19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20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21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3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24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25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26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  <a:spcBef>
                <a:spcPts val="57"/>
              </a:spcBef>
            </a:pPr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Zwei Lehrkräfte pro Klasse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28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29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30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Beantwortung der Forschungsfrage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2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33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34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35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  <a:spcBef>
                <a:spcPts val="57"/>
              </a:spcBef>
            </a:pPr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Wöchentliche Förderstunden für Hochbegabte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37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38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39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Fazit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42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43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44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Schulsystem vernachlässigt hochbegabte Schüler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kann nicht auf die besonderen Bedürfnisse der Kinder eingehen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System ist auf standardisierte Lernprozesse ausgerichtet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0" lang="zxx" sz="1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- während die Fähigkeiten anerkannt werden, werden die Herausforderungen übersehen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46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47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48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Fazit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0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51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52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53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  <a:spcBef>
                <a:spcPts val="57"/>
              </a:spcBef>
            </a:pPr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Was muss passieren?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55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56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57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Fín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9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60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61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62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  <a:spcBef>
                <a:spcPts val="57"/>
              </a:spcBef>
            </a:pPr>
            <a:r>
              <a:rPr b="0" lang="zxx" sz="2400" strike="noStrike" u="none">
                <a:solidFill>
                  <a:srgbClr val="000000"/>
                </a:solidFill>
                <a:effectLst/>
                <a:uFillTx/>
                <a:latin typeface="JetBrainsMono NF Medium"/>
                <a:ea typeface="Noto Sans CJK SC"/>
              </a:rPr>
              <a:t>Danke für eure Aufmerksamkeit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64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</a:t>
              </a: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a </a:t>
              </a: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65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66" name=""/>
          <p:cNvSpPr txBox="1"/>
          <p:nvPr/>
        </p:nvSpPr>
        <p:spPr>
          <a:xfrm>
            <a:off x="228240" y="5029200"/>
            <a:ext cx="5258160" cy="69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800" strike="noStrike" u="none">
                <a:solidFill>
                  <a:srgbClr val="000000"/>
                </a:solidFill>
                <a:effectLst/>
                <a:uFillTx/>
                <a:latin typeface="JetBrainsMono NF ExtraBold"/>
              </a:rPr>
              <a:t>Quellen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228240" y="4799880"/>
            <a:ext cx="9597960" cy="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zx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8" name=""/>
          <p:cNvGrpSpPr/>
          <p:nvPr/>
        </p:nvGrpSpPr>
        <p:grpSpPr>
          <a:xfrm>
            <a:off x="228240" y="228600"/>
            <a:ext cx="9597960" cy="228600"/>
            <a:chOff x="228240" y="228600"/>
            <a:chExt cx="9597960" cy="228600"/>
          </a:xfrm>
        </p:grpSpPr>
        <p:sp>
          <p:nvSpPr>
            <p:cNvPr id="369" name=""/>
            <p:cNvSpPr txBox="1"/>
            <p:nvPr/>
          </p:nvSpPr>
          <p:spPr>
            <a:xfrm>
              <a:off x="228240" y="228600"/>
              <a:ext cx="114264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spAutoFit/>
            </a:bodyPr>
            <a:p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Kolja Kahl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  <p:sp>
          <p:nvSpPr>
            <p:cNvPr id="370" name=""/>
            <p:cNvSpPr txBox="1"/>
            <p:nvPr/>
          </p:nvSpPr>
          <p:spPr>
            <a:xfrm>
              <a:off x="7998120" y="228600"/>
              <a:ext cx="182808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 anchorCtr="1">
              <a:spAutoFit/>
            </a:bodyPr>
            <a:p>
              <a:pPr algn="r">
                <a:tabLst>
                  <a:tab algn="ctr" pos="0"/>
                </a:tabLst>
              </a:pPr>
              <a:r>
                <a:rPr b="0" lang="zxx" sz="1200" strike="noStrike" u="none">
                  <a:solidFill>
                    <a:srgbClr val="000000"/>
                  </a:solidFill>
                  <a:effectLst/>
                  <a:uFillTx/>
                  <a:latin typeface="JetBrainsMono NF Medium"/>
                </a:rPr>
                <a:t>Seminarfach Sf4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JetBrainsMono NF Medium"/>
              </a:endParaRPr>
            </a:p>
          </p:txBody>
        </p:sp>
      </p:grpSp>
      <p:sp>
        <p:nvSpPr>
          <p:cNvPr id="371" name=""/>
          <p:cNvSpPr txBox="1"/>
          <p:nvPr/>
        </p:nvSpPr>
        <p:spPr>
          <a:xfrm>
            <a:off x="228600" y="803160"/>
            <a:ext cx="9601200" cy="354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-Italic"/>
              </a:rPr>
              <a:t>- 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https://youtu.be/hGvKKIo4tKQ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 https://youtu.be/wcPzTr-BbAA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 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https://www.dw.com/de/savants-zwischen-genie-und-wahnsinn/a-18351598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Noto Sans CJK SC"/>
              </a:rPr>
              <a:t>- Fuest, 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 Gnas, J. 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-Italic"/>
              </a:rPr>
              <a:t>u. a.: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 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-Italic"/>
              </a:rPr>
              <a:t>Intelligenz, Kreativität und Hochbegabung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pPr>
              <a:lnSpc>
                <a:spcPct val="100000"/>
              </a:lnSpc>
            </a:pP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 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Noto Sans CJK SC"/>
              </a:rPr>
              <a:t>https://www.diebegabungsspezialisten.de/2024/01/27/hochbegabte-kinder-dieherausforderungen-des-unverstandenseins/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 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Noto Sans CJK SC"/>
              </a:rPr>
              <a:t>https://www.spektrum.de/news/geheimnisvollegenialitaet/959093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 https://www.bmbf.de/DE/Bildung/Schule/Begabungsfoerderung/begabungsfoerderung_node.html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Noto Sans CJK SC"/>
              </a:rPr>
              <a:t> https://www.mk.niedersachsen.de/startseite/schule/lehrkrafte_und_nichtlehrendes_personal/unterricht/begabungsforderung/begabungsforderung-6499.html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 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Noto Sans CJK SC"/>
              </a:rPr>
              <a:t>https://en.wikipedia.org/w/index.php?title=Derek_Paravicini&amp;oldid=1273796010.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Noto Sans CJK SC"/>
              </a:rPr>
              <a:t>- https://de.wikipedia.org/w/index.php?title=Inselbegabung&amp;oldid=252921093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Noto Sans CJK SC"/>
              </a:rPr>
              <a:t>- https://de.wikipedia.org/w/index.php?title=Regelschule&amp;oldid=243691899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 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https://krautreporter.de/kinderund-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Noto Sans CJK SC"/>
              </a:rPr>
              <a:t>bildung/5637-so-blockieren-eltern-und-lehrkrafte-die-inklusion-behinderterkinder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  <a:p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"/>
              </a:rPr>
              <a:t>- Mönks, F.J. und Ypenburg, I.H. (2012) </a:t>
            </a:r>
            <a:r>
              <a:rPr b="0" lang="zxx" sz="1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Arial-Italic"/>
              </a:rPr>
              <a:t>Unser Kind ist hochbegabt: Ein Leitfaden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JetBrains Mono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</TotalTime>
  <Application>LibreOffice/25.8.2.2$Windows_X86_64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2025-10-12T14:24:03Z</dcterms:created>
  <dc:creator/>
  <dc:description/>
  <dc:language>de-DE</dc:language>
  <cp:lastModifiedBy/>
  <cp:lastPrinted>2025-10-26T21:42:54Z</cp:lastPrinted>
  <dcterms:modified xsi:type="dcterms:W3CDTF">2025-10-26T21:41:01Z</dcterms:modified>
  <cp:revision>22</cp:revision>
  <dc:subject/>
  <dc:title/>
</cp:coreProperties>
</file>